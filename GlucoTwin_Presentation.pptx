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102341"/>
                </a:solidFill>
                <a:latin typeface="Aptos"/>
              </a:defRPr>
            </a:pPr>
            <a:r>
              <a:t>GlucoTwin | A Patient-Specific Glucose Digital 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00898F"/>
                </a:solidFill>
                <a:latin typeface="Aptos"/>
              </a:defRPr>
            </a:pPr>
            <a:r>
              <a:t>Happiest Health Digital Twin Challenge 2026 · Solo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011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02341"/>
                </a:solidFill>
                <a:latin typeface="Aptos"/>
              </a:defRPr>
            </a:pPr>
            <a:r>
              <a:t>• Predicts two-hour hyperglycaemia risk from synthetic EHR + wearable streams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798064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02341"/>
                </a:solidFill>
                <a:latin typeface="Aptos"/>
              </a:defRPr>
            </a:pPr>
            <a:r>
              <a:t>• Interactive clinician-style dashboard with forecast and scenario exploration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5844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02341"/>
                </a:solidFill>
                <a:latin typeface="Aptos"/>
              </a:defRPr>
            </a:pPr>
            <a:r>
              <a:t>• Transparent validation on patient-disjoint synthetic test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170"/>
                </a:solidFill>
                <a:latin typeface="Aptos"/>
              </a:defRPr>
            </a:pPr>
            <a:r>
              <a:t>Synthetic-data research demonstration • Not for clinical 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102341"/>
                </a:solidFill>
                <a:latin typeface="Aptos"/>
              </a:defRPr>
            </a:pPr>
            <a:r>
              <a:t>The Problem | Reactive Glucose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00898F"/>
                </a:solidFill>
                <a:latin typeface="Aptos"/>
              </a:defRPr>
            </a:pPr>
            <a:r>
              <a:t>Targeted proof-of-concept: type 2 diabetes and elevated glucose 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011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02341"/>
                </a:solidFill>
                <a:latin typeface="Aptos"/>
              </a:defRPr>
            </a:pPr>
            <a:r>
              <a:t>• Historical EHR data alone misses near-term physiological 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798064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02341"/>
                </a:solidFill>
                <a:latin typeface="Aptos"/>
              </a:defRPr>
            </a:pPr>
            <a:r>
              <a:t>• Wearable streams alone omit individual baseline risk factors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5844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02341"/>
                </a:solidFill>
                <a:latin typeface="Aptos"/>
              </a:defRPr>
            </a:pPr>
            <a:r>
              <a:t>• Combining both may enable earlier risk flags; clinical efficacy remains unproven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170"/>
                </a:solidFill>
                <a:latin typeface="Aptos"/>
              </a:defRPr>
            </a:pPr>
            <a:r>
              <a:t>Synthetic-data research demonstration • Not for clinical use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102341"/>
                </a:solidFill>
                <a:latin typeface="Aptos"/>
              </a:defRPr>
            </a:pPr>
            <a:r>
              <a:t>Project Goal | Predict a Specific Event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00898F"/>
                </a:solidFill>
                <a:latin typeface="Aptos"/>
              </a:defRPr>
            </a:pPr>
            <a:r>
              <a:t>Forecast whether glucose will reach ≥180 mg/dL two hours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011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02341"/>
                </a:solidFill>
                <a:latin typeface="Aptos"/>
              </a:defRPr>
            </a:pPr>
            <a:r>
              <a:t>• Input: demographics, BMI, HbA1c, diagnosis duration, medication flag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798064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02341"/>
                </a:solidFill>
                <a:latin typeface="Aptos"/>
              </a:defRPr>
            </a:pPr>
            <a:r>
              <a:t>• Dynamic input: 30-minute glucose, steps, heart rate, sleep and meal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5844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02341"/>
                </a:solidFill>
                <a:latin typeface="Aptos"/>
              </a:defRPr>
            </a:pPr>
            <a:r>
              <a:t>• Outputs: predicted glucose in mg/dL and probability of threshold crossing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170"/>
                </a:solidFill>
                <a:latin typeface="Aptos"/>
              </a:defRPr>
            </a:pPr>
            <a:r>
              <a:t>Synthetic-data research demonstration • Not for clinical use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102341"/>
                </a:solidFill>
                <a:latin typeface="Aptos"/>
              </a:defRPr>
            </a:pPr>
            <a:r>
              <a:t>Architecture | Two Streams, One Patient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00898F"/>
                </a:solidFill>
                <a:latin typeface="Aptos"/>
              </a:defRPr>
            </a:pPr>
            <a:r>
              <a:t>Conceptual digital twin architecture — synthetic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011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02341"/>
                </a:solidFill>
                <a:latin typeface="Aptos"/>
              </a:defRPr>
            </a:pPr>
            <a:r>
              <a:t>• SYNTHETIC EHR  +  SYNTHETIC WEARABLE TIME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798064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02341"/>
                </a:solidFill>
                <a:latin typeface="Aptos"/>
              </a:defRPr>
            </a:pPr>
            <a:r>
              <a:t>•                   ↓ patient ID join and feature 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5844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02341"/>
                </a:solidFill>
                <a:latin typeface="Aptos"/>
              </a:defRPr>
            </a:pPr>
            <a:r>
              <a:t>•           Patient-disjoint train/test split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37083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02341"/>
                </a:solidFill>
                <a:latin typeface="Aptos"/>
              </a:defRPr>
            </a:pPr>
            <a:r>
              <a:t>•                   ↓ gradient-boosted classifier + regressor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157216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02341"/>
                </a:solidFill>
                <a:latin typeface="Aptos"/>
              </a:defRPr>
            </a:pPr>
            <a:r>
              <a:t>•           Streamlit dashboard: timeline, risk, what-if scenarios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170"/>
                </a:solidFill>
                <a:latin typeface="Aptos"/>
              </a:defRPr>
            </a:pPr>
            <a:r>
              <a:t>Synthetic-data research demonstration • Not for clinical use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102341"/>
                </a:solidFill>
                <a:latin typeface="Aptos"/>
              </a:defRPr>
            </a:pPr>
            <a:r>
              <a:t>Data Pipeline | Privacy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00898F"/>
                </a:solidFill>
                <a:latin typeface="Aptos"/>
              </a:defRPr>
            </a:pPr>
            <a:r>
              <a:t>Entirely simulated records; no actual patient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011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02341"/>
                </a:solidFill>
                <a:latin typeface="Aptos"/>
              </a:defRPr>
            </a:pPr>
            <a:r>
              <a:t>• 90 synthetic patient profiles and six days of 30-minute wearable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798064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02341"/>
                </a:solidFill>
                <a:latin typeface="Aptos"/>
              </a:defRPr>
            </a:pPr>
            <a:r>
              <a:t>• Forward labels use glucose exactly four time steps (two hours) later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5844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02341"/>
                </a:solidFill>
                <a:latin typeface="Aptos"/>
              </a:defRPr>
            </a:pPr>
            <a:r>
              <a:t>• Deterministic generator enables reproducible experiments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170"/>
                </a:solidFill>
                <a:latin typeface="Aptos"/>
              </a:defRPr>
            </a:pPr>
            <a:r>
              <a:t>Synthetic-data research demonstration • Not for clinical use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102341"/>
                </a:solidFill>
                <a:latin typeface="Aptos"/>
              </a:defRPr>
            </a:pPr>
            <a:r>
              <a:t>Modelling | Two Complementary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00898F"/>
                </a:solidFill>
                <a:latin typeface="Aptos"/>
              </a:defRPr>
            </a:pPr>
            <a:r>
              <a:t>Scikit-learn histogram gradient boosting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011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02341"/>
                </a:solidFill>
                <a:latin typeface="Aptos"/>
              </a:defRPr>
            </a:pPr>
            <a:r>
              <a:t>• Classification: probability of glucose ≥180 mg/dL at +2h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798064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02341"/>
                </a:solidFill>
                <a:latin typeface="Aptos"/>
              </a:defRPr>
            </a:pPr>
            <a:r>
              <a:t>• Regression: continuous glucose level forecast at +2h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5844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02341"/>
                </a:solidFill>
                <a:latin typeface="Aptos"/>
              </a:defRPr>
            </a:pPr>
            <a:r>
              <a:t>• Patient-disjoint 75/25 split prevents patient overlap across evaluation 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170"/>
                </a:solidFill>
                <a:latin typeface="Aptos"/>
              </a:defRPr>
            </a:pPr>
            <a:r>
              <a:t>Synthetic-data research demonstration • Not for clinical use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102341"/>
                </a:solidFill>
                <a:latin typeface="Aptos"/>
              </a:defRPr>
            </a:pPr>
            <a:r>
              <a:t>Synthetic Test Performance | Research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00898F"/>
                </a:solidFill>
                <a:latin typeface="Aptos"/>
              </a:defRPr>
            </a:pPr>
            <a:r>
              <a:t>Held-out simulated patients, not real-world clinical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011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02341"/>
                </a:solidFill>
                <a:latin typeface="Aptos"/>
              </a:defRPr>
            </a:pPr>
            <a:r>
              <a:t>• ROC AUC: 0.919 · Average precision: 0.696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798064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02341"/>
                </a:solidFill>
                <a:latin typeface="Aptos"/>
              </a:defRPr>
            </a:pPr>
            <a:r>
              <a:t>• Glucose forecast MAE: 10.33 mg/dL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5844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02341"/>
                </a:solidFill>
                <a:latin typeface="Aptos"/>
              </a:defRPr>
            </a:pPr>
            <a:r>
              <a:t>• Performance may reflect synthetic generator rules; cannot support medical claims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170"/>
                </a:solidFill>
                <a:latin typeface="Aptos"/>
              </a:defRPr>
            </a:pPr>
            <a:r>
              <a:t>Synthetic-data research demonstration • Not for clinical use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102341"/>
                </a:solidFill>
                <a:latin typeface="Aptos"/>
              </a:defRPr>
            </a:pPr>
            <a:r>
              <a:t>Clinician Dashboard | 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00898F"/>
                </a:solidFill>
                <a:latin typeface="Aptos"/>
              </a:defRPr>
            </a:pPr>
            <a:r>
              <a:t>Run: streamlit run app.py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011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02341"/>
                </a:solidFill>
                <a:latin typeface="Aptos"/>
              </a:defRPr>
            </a:pPr>
            <a:r>
              <a:t>• Select a synthetic patient and review their historical EHR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798064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02341"/>
                </a:solidFill>
                <a:latin typeface="Aptos"/>
              </a:defRPr>
            </a:pPr>
            <a:r>
              <a:t>• Inspect glucose trajectory, forecast and elevated-glucose risk indicator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5844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02341"/>
                </a:solidFill>
                <a:latin typeface="Aptos"/>
              </a:defRPr>
            </a:pPr>
            <a:r>
              <a:t>• Explore illustrative carbohydrate/activity scenarios — not treatment advice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170"/>
                </a:solidFill>
                <a:latin typeface="Aptos"/>
              </a:defRPr>
            </a:pPr>
            <a:r>
              <a:t>Synthetic-data research demonstration • Not for clinical use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102341"/>
                </a:solidFill>
                <a:latin typeface="Aptos"/>
              </a:defRPr>
            </a:pPr>
            <a:r>
              <a:t>Technical Implementation | Reproducible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00898F"/>
                </a:solidFill>
                <a:latin typeface="Aptos"/>
              </a:defRPr>
            </a:pPr>
            <a:r>
              <a:t>Python · pandas · NumPy · scikit-learn · Streamlit · Plotly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011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02341"/>
                </a:solidFill>
                <a:latin typeface="Aptos"/>
              </a:defRPr>
            </a:pPr>
            <a:r>
              <a:t>• Install: pip install -r requirements.txt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798064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02341"/>
                </a:solidFill>
                <a:latin typeface="Aptos"/>
              </a:defRPr>
            </a:pPr>
            <a:r>
              <a:t>• Train: python train.py  |  Test: pytest -q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5844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02341"/>
                </a:solidFill>
                <a:latin typeface="Aptos"/>
              </a:defRPr>
            </a:pPr>
            <a:r>
              <a:t>• Launch: streamlit run app.py  |  MIT-licensed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170"/>
                </a:solidFill>
                <a:latin typeface="Aptos"/>
              </a:defRPr>
            </a:pPr>
            <a:r>
              <a:t>Synthetic-data research demonstration • Not for clinical use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102341"/>
                </a:solidFill>
                <a:latin typeface="Aptos"/>
              </a:defRPr>
            </a:pPr>
            <a:r>
              <a:t>Limitations and Clinical Validation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00898F"/>
                </a:solidFill>
                <a:latin typeface="Aptos"/>
              </a:defRPr>
            </a:pPr>
            <a:r>
              <a:t>Important boundary: this is not a medical device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011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02341"/>
                </a:solidFill>
                <a:latin typeface="Aptos"/>
              </a:defRPr>
            </a:pPr>
            <a:r>
              <a:t>• Synthetic patterns are hand-coded; no independent real-patient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798064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02341"/>
                </a:solidFill>
                <a:latin typeface="Aptos"/>
              </a:defRPr>
            </a:pPr>
            <a:r>
              <a:t>• Next: ethical access to consented data, external testing, subgroup calibration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5844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02341"/>
                </a:solidFill>
                <a:latin typeface="Aptos"/>
              </a:defRPr>
            </a:pPr>
            <a:r>
              <a:t>• Later: clinician co-design, sensor integration, security and regulatory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170"/>
                </a:solidFill>
                <a:latin typeface="Aptos"/>
              </a:defRPr>
            </a:pPr>
            <a:r>
              <a:t>Synthetic-data research demonstration • Not for clinical use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102341"/>
                </a:solidFill>
                <a:latin typeface="Aptos"/>
              </a:defRPr>
            </a:pPr>
            <a:r>
              <a:t>Competition Submission | Repository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00898F"/>
                </a:solidFill>
                <a:latin typeface="Aptos"/>
              </a:defRPr>
            </a:pPr>
            <a:r>
              <a:t>Public GitHub link + 20-minute demo video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011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02341"/>
                </a:solidFill>
                <a:latin typeface="Aptos"/>
              </a:defRPr>
            </a:pPr>
            <a:r>
              <a:t>• Repository contains source, datasets, model artifact, tests, README and MIT license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798064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02341"/>
                </a:solidFill>
                <a:latin typeface="Aptos"/>
              </a:defRPr>
            </a:pPr>
            <a:r>
              <a:t>• Architecture diagram is on slide 4 of this PowerPoint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5844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02341"/>
                </a:solidFill>
                <a:latin typeface="Aptos"/>
              </a:defRPr>
            </a:pPr>
            <a:r>
              <a:t>• Add team institution and a working ≥20-minute demo video link to README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170"/>
                </a:solidFill>
                <a:latin typeface="Aptos"/>
              </a:defRPr>
            </a:pPr>
            <a:r>
              <a:t>Synthetic-data research demonstration • Not for clinical 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